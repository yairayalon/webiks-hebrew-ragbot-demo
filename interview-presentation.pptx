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rection" id="{3C3CCD2E-7C83-77E3-2885-A2A52D8D6739}">
          <p14:sldIdLst>
            <p14:sldId id="256"/>
          </p14:sldIdLst>
        </p14:section>
        <p14:section name="Results" id="{7DC02049-D215-A780-D969-E55E88416F6B}">
          <p14:sldIdLst>
            <p14:sldId id="257"/>
          </p14:sldIdLst>
        </p14:section>
        <p14:section name="Integration" id="{1E8738C5-9DB7-2401-E49A-AFAF67CBFE55}">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10"/>
  </p:normalViewPr>
  <p:slideViewPr>
    <p:cSldViewPr snapToGrid="0" snapToObjects="1">
      <p:cViewPr varScale="1">
        <p:scale>
          <a:sx n="121" d="100"/>
          <a:sy n="121" d="100"/>
        </p:scale>
        <p:origin x="523"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clustered"/>
        <c:varyColors val="0"/>
        <c:ser>
          <c:idx val="0"/>
          <c:order val="0"/>
          <c:tx>
            <c:strRef>
              <c:f>Sheet1!$B$1</c:f>
              <c:strCache>
                <c:ptCount val="1"/>
                <c:pt idx="0">
                  <c:v>Baseline</c:v>
                </c:pt>
              </c:strCache>
            </c:strRef>
          </c:tx>
          <c:spPr>
            <a:solidFill>
              <a:srgbClr val="8A94A6"/>
            </a:solidFill>
            <a:effectLst/>
          </c:spPr>
          <c:invertIfNegative val="0"/>
          <c:dLbls>
            <c:numFmt formatCode="0.000" sourceLinked="0"/>
            <c:spPr>
              <a:noFill/>
              <a:ln>
                <a:noFill/>
              </a:ln>
              <a:effectLst/>
            </c:spPr>
            <c:txPr>
              <a:bodyPr/>
              <a:lstStyle/>
              <a:p>
                <a:pPr>
                  <a:defRPr sz="1100" b="0" i="0" u="none" strike="noStrike">
                    <a:solidFill>
                      <a:srgbClr val="1F2A44"/>
                    </a:solidFill>
                    <a:latin typeface="+mn-l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Hit@1</c:v>
                </c:pt>
                <c:pt idx="1">
                  <c:v>Hit@3</c:v>
                </c:pt>
                <c:pt idx="2">
                  <c:v>Hit@5</c:v>
                </c:pt>
                <c:pt idx="3">
                  <c:v>MRR@10</c:v>
                </c:pt>
                <c:pt idx="4">
                  <c:v>nDCG@10</c:v>
                </c:pt>
              </c:strCache>
            </c:strRef>
          </c:cat>
          <c:val>
            <c:numRef>
              <c:f>Sheet1!$B$2:$B$6</c:f>
              <c:numCache>
                <c:formatCode>General</c:formatCode>
                <c:ptCount val="5"/>
                <c:pt idx="0">
                  <c:v>0.36</c:v>
                </c:pt>
                <c:pt idx="1">
                  <c:v>0.57499999999999996</c:v>
                </c:pt>
                <c:pt idx="2">
                  <c:v>0.65</c:v>
                </c:pt>
                <c:pt idx="3">
                  <c:v>0.487968253968254</c:v>
                </c:pt>
                <c:pt idx="4">
                  <c:v>0.51890300304933523</c:v>
                </c:pt>
              </c:numCache>
            </c:numRef>
          </c:val>
          <c:extLst>
            <c:ext xmlns:c16="http://schemas.microsoft.com/office/drawing/2014/chart" uri="{C3380CC4-5D6E-409C-BE32-E72D297353CC}">
              <c16:uniqueId val="{00000000-7A5B-4C28-8CBB-92440B4C6F66}"/>
            </c:ext>
          </c:extLst>
        </c:ser>
        <c:ser>
          <c:idx val="1"/>
          <c:order val="1"/>
          <c:tx>
            <c:strRef>
              <c:f>Sheet1!$C$1</c:f>
              <c:strCache>
                <c:ptCount val="1"/>
                <c:pt idx="0">
                  <c:v>Title-aware</c:v>
                </c:pt>
              </c:strCache>
            </c:strRef>
          </c:tx>
          <c:spPr>
            <a:solidFill>
              <a:srgbClr val="E8A33D"/>
            </a:solidFill>
            <a:effectLst/>
          </c:spPr>
          <c:invertIfNegative val="0"/>
          <c:dLbls>
            <c:numFmt formatCode="0.000" sourceLinked="0"/>
            <c:spPr>
              <a:noFill/>
              <a:ln>
                <a:noFill/>
              </a:ln>
              <a:effectLst/>
            </c:spPr>
            <c:txPr>
              <a:bodyPr/>
              <a:lstStyle/>
              <a:p>
                <a:pPr>
                  <a:defRPr sz="1100" b="0" i="0" u="none" strike="noStrike">
                    <a:solidFill>
                      <a:srgbClr val="1F2A44"/>
                    </a:solidFill>
                    <a:latin typeface="+mn-lt"/>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Hit@1</c:v>
                </c:pt>
                <c:pt idx="1">
                  <c:v>Hit@3</c:v>
                </c:pt>
                <c:pt idx="2">
                  <c:v>Hit@5</c:v>
                </c:pt>
                <c:pt idx="3">
                  <c:v>MRR@10</c:v>
                </c:pt>
                <c:pt idx="4">
                  <c:v>nDCG@10</c:v>
                </c:pt>
              </c:strCache>
            </c:strRef>
          </c:cat>
          <c:val>
            <c:numRef>
              <c:f>Sheet1!$C$2:$C$6</c:f>
              <c:numCache>
                <c:formatCode>General</c:formatCode>
                <c:ptCount val="5"/>
                <c:pt idx="0">
                  <c:v>0.48499999999999999</c:v>
                </c:pt>
                <c:pt idx="1">
                  <c:v>0.69499999999999995</c:v>
                </c:pt>
                <c:pt idx="2">
                  <c:v>0.73</c:v>
                </c:pt>
                <c:pt idx="3">
                  <c:v>0.5929900793650793</c:v>
                </c:pt>
                <c:pt idx="4">
                  <c:v>0.61386207843187823</c:v>
                </c:pt>
              </c:numCache>
            </c:numRef>
          </c:val>
          <c:extLst>
            <c:ext xmlns:c16="http://schemas.microsoft.com/office/drawing/2014/chart" uri="{C3380CC4-5D6E-409C-BE32-E72D297353CC}">
              <c16:uniqueId val="{00000001-7A5B-4C28-8CBB-92440B4C6F6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A44"/>
                </a:solidFill>
                <a:latin typeface="+mn-lt"/>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9525" cap="flat">
              <a:solidFill>
                <a:srgbClr val="E3E7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
      </c:valAx>
      <c:spPr>
        <a:noFill/>
        <a:ln>
          <a:noFill/>
        </a:ln>
        <a:effectLst/>
      </c:spPr>
    </c:plotArea>
    <c:legend>
      <c:legendPos val="t"/>
      <c:overlay val="0"/>
      <c:txPr>
        <a:bodyPr/>
        <a:lstStyle/>
        <a:p>
          <a:pPr>
            <a:defRPr sz="1200">
              <a:solidFill>
                <a:srgbClr val="1F2A4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883492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among the baseline's misses inspected during planning, sibling-page confusions were frequent (e.g. annual vacation days vs vacation redemption). Paragraphs are page sections and rarely name their page, which can make the paragraphs of sibling pages look alike to the embedder.
Method: keep the engine's dense search as stage 1; re-score each candidate page by its best paragraph plus 0.85 times the question-title cosine. Title vectors come from the same model, are stored on every paragraph at indexing time, and the query vector is reused.
Why this direction: it targets the observed failure, mirrors field-weighted scoring and title-aware passage representations, and adds no model at query time. Hybrid BM25 showed no gain in a pilot; cross-encoders cost 7.3–75.9 s per query on this CPU; fine-tuning is a training project and a model swap.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 the weight grid and the selection rule were fixed in advance; the weight was selected on the 96 dev questions by MRR@10 (0.85); the comparison on the 200 test questions ran once, with frozen code.
Hit@3 is the share of questions with a relevant page among the 3 pages whose paragraph goes to the LLM: 0.575 → 0.695, +0.120 [+0.070, +0.170].
Secondary: Hit@1 +0.125 [+0.060, +0.190]; Hit@5 +0.080 [+0.035, +0.125]; MRR@10 +0.105 [+0.061, +0.150]; nDCG@10 +0.095 [+0.060, +0.131].
McNemar: 2 questions hit only with the baseline, 26 only with title-aware. Ranks: 73 improved, 25 worsened.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takes its engine from retrieval.factory: one changed line in main.py. Flag unset: the engine package's own factory, exactly as before. Flag on: TitleAwareEngine, a subclass that adds title vectors on the indexing paths and re-scores in search_documents.
Costs: one environment variable; no new runtime library; no extra model at query time (the query vector is reused); one extra 1,024-d vector per paragraph. Median latency 0.664 s vs 0.653 s on this CPU; I don't claim a difference.
Verification: the full test suite, smoke checks of every endpoint with the flag off and on, and on the full index the backend's top 3 match the evaluation's rankings for 5 test questions.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34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C9D1DE"/>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3400" b="1" dirty="0">
                <a:solidFill>
                  <a:srgbClr val="1F2A44"/>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C9D1DE"/>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Rank pages with their titles</a:t>
            </a:r>
            <a:endParaRPr lang="en-US" sz="34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marL="0" indent="0">
              <a:buNone/>
            </a:pPr>
            <a:r>
              <a:rPr lang="en-US" sz="1600" dirty="0">
                <a:solidFill>
                  <a:srgbClr val="E8A33D"/>
                </a:solidFill>
              </a:rPr>
              <a:t>Title-aware retrieval for the Kol-Zchut RAG Demo</a:t>
            </a:r>
            <a:endParaRPr lang="en-US" sz="1600" dirty="0"/>
          </a:p>
        </p:txBody>
      </p:sp>
      <p:sp>
        <p:nvSpPr>
          <p:cNvPr id="4" name="stat"/>
          <p:cNvSpPr txBox="1"/>
          <p:nvPr/>
        </p:nvSpPr>
        <p:spPr>
          <a:xfrm>
            <a:off x="548640" y="1783080"/>
            <a:ext cx="2011680" cy="914400"/>
          </a:xfrm>
          <a:prstGeom prst="rect">
            <a:avLst/>
          </a:prstGeom>
          <a:noFill/>
          <a:ln/>
        </p:spPr>
        <p:txBody>
          <a:bodyPr wrap="square" lIns="0" tIns="0" rIns="0" bIns="0" rtlCol="0" anchor="ctr"/>
          <a:lstStyle/>
          <a:p>
            <a:pPr marL="0" indent="0">
              <a:buNone/>
            </a:pPr>
            <a:r>
              <a:rPr lang="en-US" sz="5000" b="1" dirty="0">
                <a:solidFill>
                  <a:srgbClr val="E8A33D"/>
                </a:solidFill>
                <a:latin typeface="Cambria" pitchFamily="34" charset="0"/>
                <a:ea typeface="Cambria" pitchFamily="34" charset="-122"/>
                <a:cs typeface="Cambria" pitchFamily="34" charset="-120"/>
              </a:rPr>
              <a:t>9.5%</a:t>
            </a:r>
            <a:endParaRPr lang="en-US" sz="5000" dirty="0"/>
          </a:p>
        </p:txBody>
      </p:sp>
      <p:sp>
        <p:nvSpPr>
          <p:cNvPr id="5" name="Text 3"/>
          <p:cNvSpPr txBox="1"/>
          <p:nvPr/>
        </p:nvSpPr>
        <p:spPr>
          <a:xfrm>
            <a:off x="2697480" y="1783080"/>
            <a:ext cx="3154680" cy="914400"/>
          </a:xfrm>
          <a:prstGeom prst="rect">
            <a:avLst/>
          </a:prstGeom>
          <a:noFill/>
          <a:ln/>
        </p:spPr>
        <p:txBody>
          <a:bodyPr wrap="square" lIns="0" tIns="0" rIns="0" bIns="0" rtlCol="0" anchor="ctr"/>
          <a:lstStyle/>
          <a:p>
            <a:pPr marL="0" indent="0">
              <a:buNone/>
            </a:pPr>
            <a:r>
              <a:rPr lang="en-US" sz="1400" dirty="0">
                <a:solidFill>
                  <a:srgbClr val="FFFFFF"/>
                </a:solidFill>
              </a:rPr>
              <a:t>of paragraphs contain their page's title, which can make the paragraphs of sibling pages look alike to the embedder.</a:t>
            </a:r>
            <a:endParaRPr lang="en-US" sz="1400" dirty="0"/>
          </a:p>
        </p:txBody>
      </p:sp>
      <p:sp>
        <p:nvSpPr>
          <p:cNvPr id="6" name="example card"/>
          <p:cNvSpPr/>
          <p:nvPr/>
        </p:nvSpPr>
        <p:spPr>
          <a:xfrm>
            <a:off x="548640" y="2926080"/>
            <a:ext cx="5303520" cy="3154680"/>
          </a:xfrm>
          <a:prstGeom prst="roundRect">
            <a:avLst>
              <a:gd name="adj" fmla="val 3478"/>
            </a:avLst>
          </a:prstGeom>
          <a:solidFill>
            <a:srgbClr val="2E3A55"/>
          </a:solidFill>
          <a:ln w="12700">
            <a:solidFill>
              <a:srgbClr val="2E3A55"/>
            </a:solidFill>
            <a:prstDash val="solid"/>
          </a:ln>
        </p:spPr>
        <p:txBody>
          <a:bodyPr/>
          <a:lstStyle/>
          <a:p>
            <a:endParaRPr lang="he-IL"/>
          </a:p>
        </p:txBody>
      </p:sp>
      <p:sp>
        <p:nvSpPr>
          <p:cNvPr id="7" name="Text 5"/>
          <p:cNvSpPr txBox="1"/>
          <p:nvPr/>
        </p:nvSpPr>
        <p:spPr>
          <a:xfrm>
            <a:off x="777240" y="3035808"/>
            <a:ext cx="4846320" cy="320040"/>
          </a:xfrm>
          <a:prstGeom prst="rect">
            <a:avLst/>
          </a:prstGeom>
          <a:noFill/>
          <a:ln/>
        </p:spPr>
        <p:txBody>
          <a:bodyPr wrap="square" lIns="0" tIns="0" rIns="0" bIns="0" rtlCol="0" anchor="ctr"/>
          <a:lstStyle/>
          <a:p>
            <a:pPr marL="0" indent="0">
              <a:buNone/>
            </a:pPr>
            <a:r>
              <a:rPr lang="en-US" sz="1200" dirty="0">
                <a:solidFill>
                  <a:srgbClr val="C9D1DE"/>
                </a:solidFill>
              </a:rPr>
              <a:t>A test question, and what each system ranks first</a:t>
            </a:r>
            <a:endParaRPr lang="en-US" sz="1200" dirty="0"/>
          </a:p>
        </p:txBody>
      </p:sp>
      <p:sp>
        <p:nvSpPr>
          <p:cNvPr id="8" name="Text 6"/>
          <p:cNvSpPr txBox="1"/>
          <p:nvPr/>
        </p:nvSpPr>
        <p:spPr>
          <a:xfrm>
            <a:off x="777240" y="3383280"/>
            <a:ext cx="4846320" cy="411480"/>
          </a:xfrm>
          <a:prstGeom prst="rect">
            <a:avLst/>
          </a:prstGeom>
          <a:noFill/>
          <a:ln/>
        </p:spPr>
        <p:txBody>
          <a:bodyPr wrap="square" lIns="0" tIns="0" rIns="0" bIns="0" rtlCol="0" anchor="ctr"/>
          <a:lstStyle/>
          <a:p>
            <a:pPr marL="0" indent="0" algn="r" rtl="1">
              <a:buNone/>
            </a:pPr>
            <a:r>
              <a:rPr lang="he-IL" altLang="en-US" sz="1500" b="1" dirty="0">
                <a:solidFill>
                  <a:srgbClr val="FFFFFF"/>
                </a:solidFill>
              </a:rPr>
              <a:t>איך אני יודע אם אני יכול להעסיק מסתננת במסעדה שלנו?</a:t>
            </a:r>
            <a:endParaRPr lang="en-US" sz="1500" dirty="0"/>
          </a:p>
        </p:txBody>
      </p:sp>
      <p:sp>
        <p:nvSpPr>
          <p:cNvPr id="9" name="Text 7"/>
          <p:cNvSpPr txBox="1"/>
          <p:nvPr/>
        </p:nvSpPr>
        <p:spPr>
          <a:xfrm>
            <a:off x="777240" y="3886200"/>
            <a:ext cx="4846320" cy="274320"/>
          </a:xfrm>
          <a:prstGeom prst="rect">
            <a:avLst/>
          </a:prstGeom>
          <a:noFill/>
          <a:ln/>
        </p:spPr>
        <p:txBody>
          <a:bodyPr wrap="square" lIns="0" tIns="0" rIns="0" bIns="0" rtlCol="0" anchor="ctr"/>
          <a:lstStyle/>
          <a:p>
            <a:pPr marL="0" indent="0">
              <a:buNone/>
            </a:pPr>
            <a:r>
              <a:rPr lang="en-US" sz="1200" dirty="0">
                <a:solidFill>
                  <a:srgbClr val="C9D1DE"/>
                </a:solidFill>
              </a:rPr>
              <a:t>Baseline top 3 (the relevant page isn't in its top 10):</a:t>
            </a:r>
            <a:endParaRPr lang="en-US" sz="1200" dirty="0"/>
          </a:p>
        </p:txBody>
      </p:sp>
      <p:sp>
        <p:nvSpPr>
          <p:cNvPr id="10" name="Text 8"/>
          <p:cNvSpPr txBox="1"/>
          <p:nvPr/>
        </p:nvSpPr>
        <p:spPr>
          <a:xfrm>
            <a:off x="777240" y="4187952"/>
            <a:ext cx="4846320" cy="960120"/>
          </a:xfrm>
          <a:prstGeom prst="rect">
            <a:avLst/>
          </a:prstGeom>
          <a:noFill/>
          <a:ln/>
        </p:spPr>
        <p:txBody>
          <a:bodyPr wrap="square" lIns="0" tIns="0" rIns="0" bIns="0" rtlCol="0" anchor="ctr"/>
          <a:lstStyle/>
          <a:p>
            <a:pPr marL="0" indent="0" algn="r" rtl="1">
              <a:spcAft>
                <a:spcPts val="200"/>
              </a:spcAft>
              <a:buNone/>
            </a:pPr>
            <a:r>
              <a:rPr lang="he-IL" altLang="en-US" sz="1300" dirty="0">
                <a:solidFill>
                  <a:srgbClr val="FFFFFF"/>
                </a:solidFill>
              </a:rPr>
              <a:t>בנסיבות מסוימות ניתן לשלול מעובדים שפוטרו עקב הוצאת לשון הרע…</a:t>
            </a:r>
            <a:endParaRPr lang="en-US" sz="1300" dirty="0"/>
          </a:p>
          <a:p>
            <a:pPr marL="0" indent="0" algn="r" rtl="1">
              <a:spcAft>
                <a:spcPts val="200"/>
              </a:spcAft>
              <a:buNone/>
            </a:pPr>
            <a:r>
              <a:rPr lang="he-IL" altLang="en-US" sz="1300" dirty="0">
                <a:solidFill>
                  <a:srgbClr val="FFFFFF"/>
                </a:solidFill>
              </a:rPr>
              <a:t>סבסוד ארוחות לעובדי שמירה ואבטחה</a:t>
            </a:r>
            <a:endParaRPr lang="en-US" sz="1300" dirty="0"/>
          </a:p>
          <a:p>
            <a:pPr marL="0" indent="0" algn="r" rtl="1">
              <a:spcAft>
                <a:spcPts val="200"/>
              </a:spcAft>
              <a:buNone/>
            </a:pPr>
            <a:r>
              <a:rPr lang="he-IL" altLang="en-US" sz="1300" dirty="0">
                <a:solidFill>
                  <a:srgbClr val="FFFFFF"/>
                </a:solidFill>
              </a:rPr>
              <a:t>פיצוי בסך 30,000 ש"ח למלצר שלא התקבל לעבודה בשל היותו ערבי</a:t>
            </a:r>
            <a:endParaRPr lang="en-US" sz="1300" dirty="0"/>
          </a:p>
        </p:txBody>
      </p:sp>
      <p:sp>
        <p:nvSpPr>
          <p:cNvPr id="11" name="Text 9"/>
          <p:cNvSpPr txBox="1"/>
          <p:nvPr/>
        </p:nvSpPr>
        <p:spPr>
          <a:xfrm>
            <a:off x="777240" y="5349240"/>
            <a:ext cx="1463040" cy="411480"/>
          </a:xfrm>
          <a:prstGeom prst="rect">
            <a:avLst/>
          </a:prstGeom>
          <a:noFill/>
          <a:ln/>
        </p:spPr>
        <p:txBody>
          <a:bodyPr wrap="square" lIns="0" tIns="0" rIns="0" bIns="0" rtlCol="0" anchor="ctr"/>
          <a:lstStyle/>
          <a:p>
            <a:pPr marL="0" indent="0">
              <a:buNone/>
            </a:pPr>
            <a:r>
              <a:rPr lang="en-US" sz="1300" b="1" dirty="0">
                <a:solidFill>
                  <a:srgbClr val="E8A33D"/>
                </a:solidFill>
              </a:rPr>
              <a:t>Title-aware #1:</a:t>
            </a:r>
            <a:endParaRPr lang="en-US" sz="1300" dirty="0"/>
          </a:p>
        </p:txBody>
      </p:sp>
      <p:sp>
        <p:nvSpPr>
          <p:cNvPr id="12" name="Text 10"/>
          <p:cNvSpPr txBox="1"/>
          <p:nvPr/>
        </p:nvSpPr>
        <p:spPr>
          <a:xfrm>
            <a:off x="2240280" y="5349240"/>
            <a:ext cx="3383280" cy="411480"/>
          </a:xfrm>
          <a:prstGeom prst="rect">
            <a:avLst/>
          </a:prstGeom>
          <a:noFill/>
          <a:ln/>
        </p:spPr>
        <p:txBody>
          <a:bodyPr wrap="square" lIns="0" tIns="0" rIns="0" bIns="0" rtlCol="0" anchor="ctr"/>
          <a:lstStyle/>
          <a:p>
            <a:pPr marL="0" indent="0" algn="r" rtl="1">
              <a:buNone/>
            </a:pPr>
            <a:r>
              <a:rPr lang="he-IL" altLang="en-US" sz="1500" b="1" dirty="0">
                <a:solidFill>
                  <a:srgbClr val="E8A33D"/>
                </a:solidFill>
              </a:rPr>
              <a:t>העסקת מבקשי מקלט (מסתננים)</a:t>
            </a:r>
            <a:endParaRPr lang="en-US" sz="1500" dirty="0"/>
          </a:p>
        </p:txBody>
      </p:sp>
      <p:sp>
        <p:nvSpPr>
          <p:cNvPr id="13" name="step 1"/>
          <p:cNvSpPr/>
          <p:nvPr/>
        </p:nvSpPr>
        <p:spPr>
          <a:xfrm>
            <a:off x="6400800" y="1828800"/>
            <a:ext cx="566928" cy="566928"/>
          </a:xfrm>
          <a:prstGeom prst="ellipse">
            <a:avLst/>
          </a:prstGeom>
          <a:solidFill>
            <a:srgbClr val="E8A33D"/>
          </a:solidFill>
          <a:ln w="12700">
            <a:solidFill>
              <a:srgbClr val="E8A33D"/>
            </a:solidFill>
            <a:prstDash val="solid"/>
          </a:ln>
        </p:spPr>
        <p:txBody>
          <a:bodyPr/>
          <a:lstStyle/>
          <a:p>
            <a:endParaRPr lang="he-IL"/>
          </a:p>
        </p:txBody>
      </p:sp>
      <p:sp>
        <p:nvSpPr>
          <p:cNvPr id="14" name="Text 12"/>
          <p:cNvSpPr txBox="1"/>
          <p:nvPr/>
        </p:nvSpPr>
        <p:spPr>
          <a:xfrm>
            <a:off x="6400800" y="1828800"/>
            <a:ext cx="566928" cy="566928"/>
          </a:xfrm>
          <a:prstGeom prst="rect">
            <a:avLst/>
          </a:prstGeom>
          <a:noFill/>
          <a:ln/>
        </p:spPr>
        <p:txBody>
          <a:bodyPr wrap="square" lIns="0" tIns="0" rIns="0" bIns="0" rtlCol="0" anchor="ctr"/>
          <a:lstStyle/>
          <a:p>
            <a:pPr marL="0" indent="0" algn="ctr">
              <a:buNone/>
            </a:pPr>
            <a:r>
              <a:rPr lang="en-US" sz="1800" b="1" dirty="0">
                <a:solidFill>
                  <a:srgbClr val="1F2A44"/>
                </a:solidFill>
              </a:rPr>
              <a:t>1</a:t>
            </a:r>
            <a:endParaRPr lang="en-US" sz="1800" dirty="0"/>
          </a:p>
        </p:txBody>
      </p:sp>
      <p:sp>
        <p:nvSpPr>
          <p:cNvPr id="15" name="Text 13"/>
          <p:cNvSpPr txBox="1"/>
          <p:nvPr/>
        </p:nvSpPr>
        <p:spPr>
          <a:xfrm>
            <a:off x="7178040" y="1755648"/>
            <a:ext cx="4480560" cy="777240"/>
          </a:xfrm>
          <a:prstGeom prst="rect">
            <a:avLst/>
          </a:prstGeom>
          <a:noFill/>
          <a:ln/>
        </p:spPr>
        <p:txBody>
          <a:bodyPr wrap="square" lIns="0" tIns="0" rIns="0" bIns="0" rtlCol="0" anchor="t"/>
          <a:lstStyle/>
          <a:p>
            <a:pPr marL="0" indent="0">
              <a:buNone/>
            </a:pPr>
            <a:r>
              <a:rPr lang="en-US" sz="1700" b="1" dirty="0">
                <a:solidFill>
                  <a:srgbClr val="FFFFFF"/>
                </a:solidFill>
              </a:rPr>
              <a:t>Embed the question</a:t>
            </a:r>
            <a:endParaRPr lang="en-US" sz="1700" dirty="0"/>
          </a:p>
          <a:p>
            <a:pPr marL="0" indent="0">
              <a:buNone/>
            </a:pPr>
            <a:r>
              <a:rPr lang="en-US" sz="1300" dirty="0">
                <a:solidFill>
                  <a:srgbClr val="C9D1DE"/>
                </a:solidFill>
              </a:rPr>
              <a:t>the released model, unchanged</a:t>
            </a:r>
            <a:endParaRPr lang="en-US" sz="1700" dirty="0"/>
          </a:p>
        </p:txBody>
      </p:sp>
      <p:sp>
        <p:nvSpPr>
          <p:cNvPr id="16" name="Shape 14"/>
          <p:cNvSpPr/>
          <p:nvPr/>
        </p:nvSpPr>
        <p:spPr>
          <a:xfrm>
            <a:off x="6684264" y="2432304"/>
            <a:ext cx="0" cy="384048"/>
          </a:xfrm>
          <a:prstGeom prst="line">
            <a:avLst/>
          </a:prstGeom>
          <a:noFill/>
          <a:ln w="15875">
            <a:solidFill>
              <a:srgbClr val="8A94A6"/>
            </a:solidFill>
            <a:prstDash val="solid"/>
          </a:ln>
        </p:spPr>
        <p:txBody>
          <a:bodyPr/>
          <a:lstStyle/>
          <a:p>
            <a:endParaRPr lang="he-IL"/>
          </a:p>
        </p:txBody>
      </p:sp>
      <p:sp>
        <p:nvSpPr>
          <p:cNvPr id="17" name="step 2"/>
          <p:cNvSpPr/>
          <p:nvPr/>
        </p:nvSpPr>
        <p:spPr>
          <a:xfrm>
            <a:off x="6400800" y="2852928"/>
            <a:ext cx="566928" cy="566928"/>
          </a:xfrm>
          <a:prstGeom prst="ellipse">
            <a:avLst/>
          </a:prstGeom>
          <a:solidFill>
            <a:srgbClr val="E8A33D"/>
          </a:solidFill>
          <a:ln w="12700">
            <a:solidFill>
              <a:srgbClr val="E8A33D"/>
            </a:solidFill>
            <a:prstDash val="solid"/>
          </a:ln>
        </p:spPr>
        <p:txBody>
          <a:bodyPr/>
          <a:lstStyle/>
          <a:p>
            <a:endParaRPr lang="he-IL"/>
          </a:p>
        </p:txBody>
      </p:sp>
      <p:sp>
        <p:nvSpPr>
          <p:cNvPr id="18" name="Text 16"/>
          <p:cNvSpPr txBox="1"/>
          <p:nvPr/>
        </p:nvSpPr>
        <p:spPr>
          <a:xfrm>
            <a:off x="6400800" y="2852928"/>
            <a:ext cx="566928" cy="566928"/>
          </a:xfrm>
          <a:prstGeom prst="rect">
            <a:avLst/>
          </a:prstGeom>
          <a:noFill/>
          <a:ln/>
        </p:spPr>
        <p:txBody>
          <a:bodyPr wrap="square" lIns="0" tIns="0" rIns="0" bIns="0" rtlCol="0" anchor="ctr"/>
          <a:lstStyle/>
          <a:p>
            <a:pPr marL="0" indent="0" algn="ctr">
              <a:buNone/>
            </a:pPr>
            <a:r>
              <a:rPr lang="en-US" sz="1800" b="1" dirty="0">
                <a:solidFill>
                  <a:srgbClr val="1F2A44"/>
                </a:solidFill>
              </a:rPr>
              <a:t>2</a:t>
            </a:r>
            <a:endParaRPr lang="en-US" sz="1800" dirty="0"/>
          </a:p>
        </p:txBody>
      </p:sp>
      <p:sp>
        <p:nvSpPr>
          <p:cNvPr id="19" name="Text 17"/>
          <p:cNvSpPr txBox="1"/>
          <p:nvPr/>
        </p:nvSpPr>
        <p:spPr>
          <a:xfrm>
            <a:off x="7178040" y="2779776"/>
            <a:ext cx="4480560" cy="777240"/>
          </a:xfrm>
          <a:prstGeom prst="rect">
            <a:avLst/>
          </a:prstGeom>
          <a:noFill/>
          <a:ln/>
        </p:spPr>
        <p:txBody>
          <a:bodyPr wrap="square" lIns="0" tIns="0" rIns="0" bIns="0" rtlCol="0" anchor="t"/>
          <a:lstStyle/>
          <a:p>
            <a:pPr marL="0" indent="0">
              <a:buNone/>
            </a:pPr>
            <a:r>
              <a:rPr lang="en-US" sz="1700" b="1" dirty="0">
                <a:solidFill>
                  <a:srgbClr val="FFFFFF"/>
                </a:solidFill>
              </a:rPr>
              <a:t>Dense search: top 50 paragraphs</a:t>
            </a:r>
            <a:endParaRPr lang="en-US" sz="1700" dirty="0"/>
          </a:p>
          <a:p>
            <a:pPr marL="0" indent="0">
              <a:buNone/>
            </a:pPr>
            <a:r>
              <a:rPr lang="en-US" sz="1300" dirty="0">
                <a:solidFill>
                  <a:srgbClr val="C9D1DE"/>
                </a:solidFill>
              </a:rPr>
              <a:t>the engine's own query</a:t>
            </a:r>
            <a:endParaRPr lang="en-US" sz="1700" dirty="0"/>
          </a:p>
        </p:txBody>
      </p:sp>
      <p:sp>
        <p:nvSpPr>
          <p:cNvPr id="20" name="Shape 18"/>
          <p:cNvSpPr/>
          <p:nvPr/>
        </p:nvSpPr>
        <p:spPr>
          <a:xfrm>
            <a:off x="6684264" y="3456432"/>
            <a:ext cx="0" cy="384048"/>
          </a:xfrm>
          <a:prstGeom prst="line">
            <a:avLst/>
          </a:prstGeom>
          <a:noFill/>
          <a:ln w="15875">
            <a:solidFill>
              <a:srgbClr val="8A94A6"/>
            </a:solidFill>
            <a:prstDash val="solid"/>
          </a:ln>
        </p:spPr>
        <p:txBody>
          <a:bodyPr/>
          <a:lstStyle/>
          <a:p>
            <a:endParaRPr lang="he-IL"/>
          </a:p>
        </p:txBody>
      </p:sp>
      <p:sp>
        <p:nvSpPr>
          <p:cNvPr id="21" name="step 3"/>
          <p:cNvSpPr/>
          <p:nvPr/>
        </p:nvSpPr>
        <p:spPr>
          <a:xfrm>
            <a:off x="6400800" y="3877056"/>
            <a:ext cx="566928" cy="566928"/>
          </a:xfrm>
          <a:prstGeom prst="ellipse">
            <a:avLst/>
          </a:prstGeom>
          <a:solidFill>
            <a:srgbClr val="E8A33D"/>
          </a:solidFill>
          <a:ln w="12700">
            <a:solidFill>
              <a:srgbClr val="E8A33D"/>
            </a:solidFill>
            <a:prstDash val="solid"/>
          </a:ln>
        </p:spPr>
        <p:txBody>
          <a:bodyPr/>
          <a:lstStyle/>
          <a:p>
            <a:endParaRPr lang="he-IL"/>
          </a:p>
        </p:txBody>
      </p:sp>
      <p:sp>
        <p:nvSpPr>
          <p:cNvPr id="22" name="Text 20"/>
          <p:cNvSpPr txBox="1"/>
          <p:nvPr/>
        </p:nvSpPr>
        <p:spPr>
          <a:xfrm>
            <a:off x="6400800" y="3877056"/>
            <a:ext cx="566928" cy="566928"/>
          </a:xfrm>
          <a:prstGeom prst="rect">
            <a:avLst/>
          </a:prstGeom>
          <a:noFill/>
          <a:ln/>
        </p:spPr>
        <p:txBody>
          <a:bodyPr wrap="square" lIns="0" tIns="0" rIns="0" bIns="0" rtlCol="0" anchor="ctr"/>
          <a:lstStyle/>
          <a:p>
            <a:pPr marL="0" indent="0" algn="ctr">
              <a:buNone/>
            </a:pPr>
            <a:r>
              <a:rPr lang="en-US" sz="1800" b="1" dirty="0">
                <a:solidFill>
                  <a:srgbClr val="1F2A44"/>
                </a:solidFill>
              </a:rPr>
              <a:t>3</a:t>
            </a:r>
            <a:endParaRPr lang="en-US" sz="1800" dirty="0"/>
          </a:p>
        </p:txBody>
      </p:sp>
      <p:sp>
        <p:nvSpPr>
          <p:cNvPr id="23" name="Text 21"/>
          <p:cNvSpPr txBox="1"/>
          <p:nvPr/>
        </p:nvSpPr>
        <p:spPr>
          <a:xfrm>
            <a:off x="7178040" y="3803904"/>
            <a:ext cx="4480560" cy="777240"/>
          </a:xfrm>
          <a:prstGeom prst="rect">
            <a:avLst/>
          </a:prstGeom>
          <a:noFill/>
          <a:ln/>
        </p:spPr>
        <p:txBody>
          <a:bodyPr wrap="square" lIns="0" tIns="0" rIns="0" bIns="0" rtlCol="0" anchor="t"/>
          <a:lstStyle/>
          <a:p>
            <a:pPr marL="0" indent="0">
              <a:buNone/>
            </a:pPr>
            <a:r>
              <a:rPr lang="en-US" sz="1700" b="1" dirty="0">
                <a:solidFill>
                  <a:srgbClr val="FFFFFF"/>
                </a:solidFill>
              </a:rPr>
              <a:t>Best paragraph per page</a:t>
            </a:r>
            <a:endParaRPr lang="en-US" sz="1700" dirty="0"/>
          </a:p>
          <a:p>
            <a:pPr marL="0" indent="0">
              <a:buNone/>
            </a:pPr>
            <a:r>
              <a:rPr lang="en-US" sz="1300" dirty="0">
                <a:solidFill>
                  <a:srgbClr val="C9D1DE"/>
                </a:solidFill>
              </a:rPr>
              <a:t>the engine's candidates, unchanged</a:t>
            </a:r>
            <a:endParaRPr lang="en-US" sz="1700" dirty="0"/>
          </a:p>
        </p:txBody>
      </p:sp>
      <p:sp>
        <p:nvSpPr>
          <p:cNvPr id="24" name="Shape 22"/>
          <p:cNvSpPr/>
          <p:nvPr/>
        </p:nvSpPr>
        <p:spPr>
          <a:xfrm>
            <a:off x="6684264" y="4480560"/>
            <a:ext cx="0" cy="384048"/>
          </a:xfrm>
          <a:prstGeom prst="line">
            <a:avLst/>
          </a:prstGeom>
          <a:noFill/>
          <a:ln w="15875">
            <a:solidFill>
              <a:srgbClr val="8A94A6"/>
            </a:solidFill>
            <a:prstDash val="solid"/>
          </a:ln>
        </p:spPr>
        <p:txBody>
          <a:bodyPr/>
          <a:lstStyle/>
          <a:p>
            <a:endParaRPr lang="he-IL"/>
          </a:p>
        </p:txBody>
      </p:sp>
      <p:sp>
        <p:nvSpPr>
          <p:cNvPr id="25" name="step 4"/>
          <p:cNvSpPr/>
          <p:nvPr/>
        </p:nvSpPr>
        <p:spPr>
          <a:xfrm>
            <a:off x="6400800" y="4901184"/>
            <a:ext cx="566928" cy="566928"/>
          </a:xfrm>
          <a:prstGeom prst="ellipse">
            <a:avLst/>
          </a:prstGeom>
          <a:solidFill>
            <a:srgbClr val="E8A33D"/>
          </a:solidFill>
          <a:ln w="12700">
            <a:solidFill>
              <a:srgbClr val="E8A33D"/>
            </a:solidFill>
            <a:prstDash val="solid"/>
          </a:ln>
        </p:spPr>
        <p:txBody>
          <a:bodyPr/>
          <a:lstStyle/>
          <a:p>
            <a:endParaRPr lang="he-IL"/>
          </a:p>
        </p:txBody>
      </p:sp>
      <p:sp>
        <p:nvSpPr>
          <p:cNvPr id="26" name="Text 24"/>
          <p:cNvSpPr txBox="1"/>
          <p:nvPr/>
        </p:nvSpPr>
        <p:spPr>
          <a:xfrm>
            <a:off x="6400800" y="4901184"/>
            <a:ext cx="566928" cy="566928"/>
          </a:xfrm>
          <a:prstGeom prst="rect">
            <a:avLst/>
          </a:prstGeom>
          <a:noFill/>
          <a:ln/>
        </p:spPr>
        <p:txBody>
          <a:bodyPr wrap="square" lIns="0" tIns="0" rIns="0" bIns="0" rtlCol="0" anchor="ctr"/>
          <a:lstStyle/>
          <a:p>
            <a:pPr marL="0" indent="0" algn="ctr">
              <a:buNone/>
            </a:pPr>
            <a:r>
              <a:rPr lang="en-US" sz="1800" b="1" dirty="0">
                <a:solidFill>
                  <a:srgbClr val="1F2A44"/>
                </a:solidFill>
              </a:rPr>
              <a:t>4</a:t>
            </a:r>
            <a:endParaRPr lang="en-US" sz="1800" dirty="0"/>
          </a:p>
        </p:txBody>
      </p:sp>
      <p:sp>
        <p:nvSpPr>
          <p:cNvPr id="27" name="Text 25"/>
          <p:cNvSpPr txBox="1"/>
          <p:nvPr/>
        </p:nvSpPr>
        <p:spPr>
          <a:xfrm>
            <a:off x="7178040" y="4828032"/>
            <a:ext cx="4480560" cy="777240"/>
          </a:xfrm>
          <a:prstGeom prst="rect">
            <a:avLst/>
          </a:prstGeom>
          <a:noFill/>
          <a:ln/>
        </p:spPr>
        <p:txBody>
          <a:bodyPr wrap="square" lIns="0" tIns="0" rIns="0" bIns="0" rtlCol="0" anchor="t"/>
          <a:lstStyle/>
          <a:p>
            <a:pPr marL="0" indent="0">
              <a:buNone/>
            </a:pPr>
            <a:r>
              <a:rPr lang="en-US" sz="1700" b="1" dirty="0">
                <a:solidFill>
                  <a:srgbClr val="FFFFFF"/>
                </a:solidFill>
              </a:rPr>
              <a:t>Re-score each page</a:t>
            </a:r>
            <a:endParaRPr lang="en-US" sz="1700" dirty="0"/>
          </a:p>
          <a:p>
            <a:pPr marL="0" indent="0">
              <a:buNone/>
            </a:pPr>
            <a:r>
              <a:rPr lang="en-US" sz="1300" dirty="0">
                <a:solidFill>
                  <a:srgbClr val="C9D1DE"/>
                </a:solidFill>
              </a:rPr>
              <a:t>cos(q, paragraph) + 0.85 · cos(q, title) → top 3 pages to the LLM</a:t>
            </a:r>
            <a:endParaRPr lang="en-US" sz="1700" dirty="0"/>
          </a:p>
        </p:txBody>
      </p:sp>
      <p:sp>
        <p:nvSpPr>
          <p:cNvPr id="28" name="Text 26"/>
          <p:cNvSpPr txBox="1"/>
          <p:nvPr/>
        </p:nvSpPr>
        <p:spPr>
          <a:xfrm>
            <a:off x="548640" y="6217920"/>
            <a:ext cx="10424160" cy="365760"/>
          </a:xfrm>
          <a:prstGeom prst="rect">
            <a:avLst/>
          </a:prstGeom>
          <a:noFill/>
          <a:ln/>
        </p:spPr>
        <p:txBody>
          <a:bodyPr wrap="square" lIns="0" tIns="0" rIns="0" bIns="0" rtlCol="0" anchor="ctr"/>
          <a:lstStyle/>
          <a:p>
            <a:pPr marL="0" indent="0">
              <a:buNone/>
            </a:pPr>
            <a:r>
              <a:rPr lang="en-US" sz="1150" b="1" dirty="0">
                <a:solidFill>
                  <a:srgbClr val="E8A33D"/>
                </a:solidFill>
              </a:rPr>
              <a:t>Precedent: </a:t>
            </a:r>
            <a:r>
              <a:rPr lang="en-US" sz="1150" dirty="0">
                <a:solidFill>
                  <a:srgbClr val="C9D1DE"/>
                </a:solidFill>
              </a:rPr>
              <a:t>BM25F field weighting · DPR / DHR passage titles · Contextual Retrieval.   </a:t>
            </a:r>
            <a:r>
              <a:rPr lang="en-US" sz="1150" b="1" dirty="0">
                <a:solidFill>
                  <a:srgbClr val="E8A33D"/>
                </a:solidFill>
              </a:rPr>
              <a:t>Not taken: </a:t>
            </a:r>
            <a:r>
              <a:rPr lang="en-US" sz="1150" dirty="0">
                <a:solidFill>
                  <a:srgbClr val="C9D1DE"/>
                </a:solidFill>
              </a:rPr>
              <a:t>hybrid BM25 · cross-encoders (7.3–75.9 s per query on CPU) · fine-tuning.</a:t>
            </a:r>
            <a:endParaRPr lang="en-US" sz="1150" dirty="0"/>
          </a:p>
        </p:txBody>
      </p:sp>
      <p:sp>
        <p:nvSpPr>
          <p:cNvPr id="29"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C9D1DE"/>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400" b="1" dirty="0">
                <a:solidFill>
                  <a:srgbClr val="1F2A44"/>
                </a:solidFill>
                <a:latin typeface="Cambria" pitchFamily="34" charset="0"/>
                <a:ea typeface="Cambria" pitchFamily="34" charset="-122"/>
                <a:cs typeface="Cambria" pitchFamily="34" charset="-120"/>
              </a:rPr>
              <a:t>Results: 200 held-out test questions</a:t>
            </a:r>
            <a:endParaRPr lang="en-US" sz="3400" dirty="0"/>
          </a:p>
        </p:txBody>
      </p:sp>
      <p:sp>
        <p:nvSpPr>
          <p:cNvPr id="3" name="protocol"/>
          <p:cNvSpPr/>
          <p:nvPr/>
        </p:nvSpPr>
        <p:spPr>
          <a:xfrm>
            <a:off x="548640" y="1188720"/>
            <a:ext cx="11064240" cy="502920"/>
          </a:xfrm>
          <a:prstGeom prst="roundRect">
            <a:avLst>
              <a:gd name="adj" fmla="val 18182"/>
            </a:avLst>
          </a:prstGeom>
          <a:solidFill>
            <a:srgbClr val="F2F4F7"/>
          </a:solidFill>
          <a:ln w="12700">
            <a:solidFill>
              <a:srgbClr val="F2F4F7"/>
            </a:solidFill>
            <a:prstDash val="solid"/>
          </a:ln>
        </p:spPr>
        <p:txBody>
          <a:bodyPr/>
          <a:lstStyle/>
          <a:p>
            <a:endParaRPr lang="he-IL"/>
          </a:p>
        </p:txBody>
      </p:sp>
      <p:sp>
        <p:nvSpPr>
          <p:cNvPr id="4" name="Text 2"/>
          <p:cNvSpPr txBox="1"/>
          <p:nvPr/>
        </p:nvSpPr>
        <p:spPr>
          <a:xfrm>
            <a:off x="731520" y="1188720"/>
            <a:ext cx="10698480" cy="502920"/>
          </a:xfrm>
          <a:prstGeom prst="rect">
            <a:avLst/>
          </a:prstGeom>
          <a:noFill/>
          <a:ln/>
        </p:spPr>
        <p:txBody>
          <a:bodyPr wrap="square" lIns="0" tIns="0" rIns="0" bIns="0" rtlCol="0" anchor="ctr"/>
          <a:lstStyle/>
          <a:p>
            <a:pPr marL="0" indent="0">
              <a:buNone/>
            </a:pPr>
            <a:r>
              <a:rPr lang="en-US" sz="1300" b="1" dirty="0">
                <a:solidFill>
                  <a:srgbClr val="1F2A44"/>
                </a:solidFill>
              </a:rPr>
              <a:t>Protocol: </a:t>
            </a:r>
            <a:r>
              <a:rPr lang="en-US" sz="1300" dirty="0">
                <a:solidFill>
                  <a:srgbClr val="1F2A44"/>
                </a:solidFill>
              </a:rPr>
              <a:t>grid and rule fixed in advance; the weight was selected on dev only (n = 96); the comparison on the test split ran once, with frozen code (n = 200).</a:t>
            </a:r>
            <a:endParaRPr lang="en-US" sz="1300" dirty="0"/>
          </a:p>
        </p:txBody>
      </p:sp>
      <p:graphicFrame>
        <p:nvGraphicFramePr>
          <p:cNvPr id="5" name="metrics chart"/>
          <p:cNvGraphicFramePr/>
          <p:nvPr/>
        </p:nvGraphicFramePr>
        <p:xfrm>
          <a:off x="457200" y="1874520"/>
          <a:ext cx="69494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hit@3 card"/>
          <p:cNvSpPr/>
          <p:nvPr/>
        </p:nvSpPr>
        <p:spPr>
          <a:xfrm>
            <a:off x="7772400" y="1920240"/>
            <a:ext cx="3840480" cy="2240280"/>
          </a:xfrm>
          <a:prstGeom prst="roundRect">
            <a:avLst>
              <a:gd name="adj" fmla="val 4898"/>
            </a:avLst>
          </a:prstGeom>
          <a:solidFill>
            <a:srgbClr val="F2F4F7"/>
          </a:solidFill>
          <a:ln w="12700">
            <a:solidFill>
              <a:srgbClr val="F2F4F7"/>
            </a:solidFill>
            <a:prstDash val="solid"/>
          </a:ln>
        </p:spPr>
        <p:txBody>
          <a:bodyPr/>
          <a:lstStyle/>
          <a:p>
            <a:endParaRPr lang="he-IL"/>
          </a:p>
        </p:txBody>
      </p:sp>
      <p:sp>
        <p:nvSpPr>
          <p:cNvPr id="7" name="Text 4"/>
          <p:cNvSpPr txBox="1"/>
          <p:nvPr/>
        </p:nvSpPr>
        <p:spPr>
          <a:xfrm>
            <a:off x="8001000" y="2057400"/>
            <a:ext cx="3383280" cy="320040"/>
          </a:xfrm>
          <a:prstGeom prst="rect">
            <a:avLst/>
          </a:prstGeom>
          <a:noFill/>
          <a:ln/>
        </p:spPr>
        <p:txBody>
          <a:bodyPr wrap="square" lIns="0" tIns="0" rIns="0" bIns="0" rtlCol="0" anchor="ctr"/>
          <a:lstStyle/>
          <a:p>
            <a:pPr marL="0" indent="0">
              <a:buNone/>
            </a:pPr>
            <a:r>
              <a:rPr lang="en-US" sz="1400" dirty="0">
                <a:solidFill>
                  <a:srgbClr val="5B6578"/>
                </a:solidFill>
              </a:rPr>
              <a:t>Hit@3, the primary metric</a:t>
            </a:r>
            <a:endParaRPr lang="en-US" sz="1400" dirty="0"/>
          </a:p>
        </p:txBody>
      </p:sp>
      <p:sp>
        <p:nvSpPr>
          <p:cNvPr id="8" name="Text 5"/>
          <p:cNvSpPr txBox="1"/>
          <p:nvPr/>
        </p:nvSpPr>
        <p:spPr>
          <a:xfrm>
            <a:off x="8001000" y="2423160"/>
            <a:ext cx="3474720" cy="731520"/>
          </a:xfrm>
          <a:prstGeom prst="rect">
            <a:avLst/>
          </a:prstGeom>
          <a:noFill/>
          <a:ln/>
        </p:spPr>
        <p:txBody>
          <a:bodyPr wrap="square" lIns="0" tIns="0" rIns="0" bIns="0" rtlCol="0" anchor="ctr"/>
          <a:lstStyle/>
          <a:p>
            <a:pPr marL="0" indent="0">
              <a:buNone/>
            </a:pPr>
            <a:r>
              <a:rPr lang="en-US" sz="3800" b="1" dirty="0">
                <a:solidFill>
                  <a:srgbClr val="1F2A44"/>
                </a:solidFill>
                <a:latin typeface="Cambria" pitchFamily="34" charset="0"/>
                <a:ea typeface="Cambria" pitchFamily="34" charset="-122"/>
                <a:cs typeface="Cambria" pitchFamily="34" charset="-120"/>
              </a:rPr>
              <a:t>0.575 → 0.695</a:t>
            </a:r>
            <a:endParaRPr lang="en-US" sz="3800" dirty="0"/>
          </a:p>
        </p:txBody>
      </p:sp>
      <p:sp>
        <p:nvSpPr>
          <p:cNvPr id="9" name="Text 6"/>
          <p:cNvSpPr txBox="1"/>
          <p:nvPr/>
        </p:nvSpPr>
        <p:spPr>
          <a:xfrm>
            <a:off x="8001000" y="3200400"/>
            <a:ext cx="3474720" cy="411480"/>
          </a:xfrm>
          <a:prstGeom prst="rect">
            <a:avLst/>
          </a:prstGeom>
          <a:noFill/>
          <a:ln/>
        </p:spPr>
        <p:txBody>
          <a:bodyPr wrap="square" lIns="0" tIns="0" rIns="0" bIns="0" rtlCol="0" anchor="ctr"/>
          <a:lstStyle/>
          <a:p>
            <a:pPr marL="0" indent="0">
              <a:buNone/>
            </a:pPr>
            <a:r>
              <a:rPr lang="en-US" sz="1800" b="1" dirty="0">
                <a:solidFill>
                  <a:srgbClr val="2F7D6D"/>
                </a:solidFill>
              </a:rPr>
              <a:t>+0.120 [+0.070, +0.170]</a:t>
            </a:r>
            <a:endParaRPr lang="en-US" sz="1800" dirty="0"/>
          </a:p>
        </p:txBody>
      </p:sp>
      <p:sp>
        <p:nvSpPr>
          <p:cNvPr id="10" name="Text 7"/>
          <p:cNvSpPr txBox="1"/>
          <p:nvPr/>
        </p:nvSpPr>
        <p:spPr>
          <a:xfrm>
            <a:off x="8001000" y="3611880"/>
            <a:ext cx="3474720" cy="320040"/>
          </a:xfrm>
          <a:prstGeom prst="rect">
            <a:avLst/>
          </a:prstGeom>
          <a:noFill/>
          <a:ln/>
        </p:spPr>
        <p:txBody>
          <a:bodyPr wrap="square" lIns="0" tIns="0" rIns="0" bIns="0" rtlCol="0" anchor="ctr"/>
          <a:lstStyle/>
          <a:p>
            <a:pPr marL="0" indent="0">
              <a:buNone/>
            </a:pPr>
            <a:r>
              <a:rPr lang="en-US" sz="1200" dirty="0">
                <a:solidFill>
                  <a:srgbClr val="5B6578"/>
                </a:solidFill>
              </a:rPr>
              <a:t>difference, 95% paired bootstrap CI</a:t>
            </a:r>
            <a:endParaRPr lang="en-US" sz="1200" dirty="0"/>
          </a:p>
        </p:txBody>
      </p:sp>
      <p:sp>
        <p:nvSpPr>
          <p:cNvPr id="11" name="fact 1"/>
          <p:cNvSpPr/>
          <p:nvPr/>
        </p:nvSpPr>
        <p:spPr>
          <a:xfrm>
            <a:off x="7772400" y="4389120"/>
            <a:ext cx="3840480" cy="868680"/>
          </a:xfrm>
          <a:prstGeom prst="roundRect">
            <a:avLst>
              <a:gd name="adj" fmla="val 12632"/>
            </a:avLst>
          </a:prstGeom>
          <a:solidFill>
            <a:srgbClr val="F2F4F7"/>
          </a:solidFill>
          <a:ln w="12700">
            <a:solidFill>
              <a:srgbClr val="F2F4F7"/>
            </a:solidFill>
            <a:prstDash val="solid"/>
          </a:ln>
        </p:spPr>
        <p:txBody>
          <a:bodyPr/>
          <a:lstStyle/>
          <a:p>
            <a:endParaRPr lang="he-IL"/>
          </a:p>
        </p:txBody>
      </p:sp>
      <p:sp>
        <p:nvSpPr>
          <p:cNvPr id="12" name="Text 9"/>
          <p:cNvSpPr txBox="1"/>
          <p:nvPr/>
        </p:nvSpPr>
        <p:spPr>
          <a:xfrm>
            <a:off x="8001000" y="4462272"/>
            <a:ext cx="3474720" cy="731520"/>
          </a:xfrm>
          <a:prstGeom prst="rect">
            <a:avLst/>
          </a:prstGeom>
          <a:noFill/>
          <a:ln/>
        </p:spPr>
        <p:txBody>
          <a:bodyPr wrap="square" lIns="0" tIns="0" rIns="0" bIns="0" rtlCol="0" anchor="ctr"/>
          <a:lstStyle/>
          <a:p>
            <a:pPr marL="0" indent="0">
              <a:buNone/>
            </a:pPr>
            <a:r>
              <a:rPr lang="en-US" sz="1200" dirty="0">
                <a:solidFill>
                  <a:srgbClr val="5B6578"/>
                </a:solidFill>
              </a:rPr>
              <a:t>Exact McNemar on Hit@3</a:t>
            </a:r>
            <a:endParaRPr lang="en-US" sz="1200" dirty="0"/>
          </a:p>
          <a:p>
            <a:pPr marL="0" indent="0">
              <a:buNone/>
            </a:pPr>
            <a:r>
              <a:rPr lang="en-US" sz="1500" b="1" dirty="0">
                <a:solidFill>
                  <a:srgbClr val="1F2A44"/>
                </a:solidFill>
              </a:rPr>
              <a:t>2 vs 26 questions · p = 3.0e-6</a:t>
            </a:r>
            <a:endParaRPr lang="en-US" sz="1200" dirty="0"/>
          </a:p>
        </p:txBody>
      </p:sp>
      <p:sp>
        <p:nvSpPr>
          <p:cNvPr id="13" name="fact 2"/>
          <p:cNvSpPr/>
          <p:nvPr/>
        </p:nvSpPr>
        <p:spPr>
          <a:xfrm>
            <a:off x="7772400" y="5394960"/>
            <a:ext cx="3840480" cy="868680"/>
          </a:xfrm>
          <a:prstGeom prst="roundRect">
            <a:avLst>
              <a:gd name="adj" fmla="val 12632"/>
            </a:avLst>
          </a:prstGeom>
          <a:solidFill>
            <a:srgbClr val="F2F4F7"/>
          </a:solidFill>
          <a:ln w="12700">
            <a:solidFill>
              <a:srgbClr val="F2F4F7"/>
            </a:solidFill>
            <a:prstDash val="solid"/>
          </a:ln>
        </p:spPr>
        <p:txBody>
          <a:bodyPr/>
          <a:lstStyle/>
          <a:p>
            <a:endParaRPr lang="he-IL"/>
          </a:p>
        </p:txBody>
      </p:sp>
      <p:sp>
        <p:nvSpPr>
          <p:cNvPr id="14" name="Text 11"/>
          <p:cNvSpPr txBox="1"/>
          <p:nvPr/>
        </p:nvSpPr>
        <p:spPr>
          <a:xfrm>
            <a:off x="8001000" y="5468112"/>
            <a:ext cx="3474720" cy="731520"/>
          </a:xfrm>
          <a:prstGeom prst="rect">
            <a:avLst/>
          </a:prstGeom>
          <a:noFill/>
          <a:ln/>
        </p:spPr>
        <p:txBody>
          <a:bodyPr wrap="square" lIns="0" tIns="0" rIns="0" bIns="0" rtlCol="0" anchor="ctr"/>
          <a:lstStyle/>
          <a:p>
            <a:pPr marL="0" indent="0">
              <a:buNone/>
            </a:pPr>
            <a:r>
              <a:rPr lang="en-US" sz="1200" dirty="0">
                <a:solidFill>
                  <a:srgbClr val="5B6578"/>
                </a:solidFill>
              </a:rPr>
              <a:t>First relevant rank</a:t>
            </a:r>
            <a:endParaRPr lang="en-US" sz="1200" dirty="0"/>
          </a:p>
          <a:p>
            <a:pPr marL="0" indent="0">
              <a:buNone/>
            </a:pPr>
            <a:r>
              <a:rPr lang="en-US" sz="1500" b="1" dirty="0">
                <a:solidFill>
                  <a:srgbClr val="1F2A44"/>
                </a:solidFill>
              </a:rPr>
              <a:t>73 improved · 25 worsened · 102 same</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3400" b="1" dirty="0">
                <a:solidFill>
                  <a:srgbClr val="1F2A44"/>
                </a:solidFill>
                <a:latin typeface="Cambria" pitchFamily="34" charset="0"/>
                <a:ea typeface="Cambria" pitchFamily="34" charset="-122"/>
                <a:cs typeface="Cambria" pitchFamily="34" charset="-120"/>
              </a:rPr>
              <a:t>Integration and costs</a:t>
            </a:r>
            <a:endParaRPr lang="en-US" sz="3400" dirty="0"/>
          </a:p>
        </p:txBody>
      </p:sp>
      <p:sp>
        <p:nvSpPr>
          <p:cNvPr id="3" name="request"/>
          <p:cNvSpPr/>
          <p:nvPr/>
        </p:nvSpPr>
        <p:spPr>
          <a:xfrm>
            <a:off x="548640" y="1417320"/>
            <a:ext cx="1828800" cy="685800"/>
          </a:xfrm>
          <a:prstGeom prst="roundRect">
            <a:avLst>
              <a:gd name="adj" fmla="val 13333"/>
            </a:avLst>
          </a:prstGeom>
          <a:solidFill>
            <a:srgbClr val="F2F4F7"/>
          </a:solidFill>
          <a:ln w="12700">
            <a:solidFill>
              <a:srgbClr val="F2F4F7"/>
            </a:solidFill>
            <a:prstDash val="solid"/>
          </a:ln>
        </p:spPr>
        <p:txBody>
          <a:bodyPr/>
          <a:lstStyle/>
          <a:p>
            <a:endParaRPr lang="he-IL"/>
          </a:p>
        </p:txBody>
      </p:sp>
      <p:sp>
        <p:nvSpPr>
          <p:cNvPr id="4" name="Text 2"/>
          <p:cNvSpPr txBox="1"/>
          <p:nvPr/>
        </p:nvSpPr>
        <p:spPr>
          <a:xfrm>
            <a:off x="548640" y="1417320"/>
            <a:ext cx="1828800" cy="685800"/>
          </a:xfrm>
          <a:prstGeom prst="rect">
            <a:avLst/>
          </a:prstGeom>
          <a:noFill/>
          <a:ln/>
        </p:spPr>
        <p:txBody>
          <a:bodyPr wrap="square" lIns="50800" tIns="50800" rIns="50800" bIns="50800" rtlCol="0" anchor="ctr"/>
          <a:lstStyle/>
          <a:p>
            <a:pPr marL="0" indent="0" algn="ctr">
              <a:buNone/>
            </a:pPr>
            <a:r>
              <a:rPr lang="en-US" sz="1400" dirty="0">
                <a:solidFill>
                  <a:srgbClr val="1F2A44"/>
                </a:solidFill>
                <a:latin typeface="Consolas" pitchFamily="34" charset="0"/>
                <a:ea typeface="Consolas" pitchFamily="34" charset="-122"/>
                <a:cs typeface="Consolas" pitchFamily="34" charset="-120"/>
              </a:rPr>
              <a:t>POST /search</a:t>
            </a:r>
            <a:endParaRPr lang="en-US" sz="1400" dirty="0"/>
          </a:p>
        </p:txBody>
      </p:sp>
      <p:sp>
        <p:nvSpPr>
          <p:cNvPr id="5" name="Shape 3"/>
          <p:cNvSpPr/>
          <p:nvPr/>
        </p:nvSpPr>
        <p:spPr>
          <a:xfrm>
            <a:off x="2423160" y="1760220"/>
            <a:ext cx="457200" cy="0"/>
          </a:xfrm>
          <a:prstGeom prst="line">
            <a:avLst/>
          </a:prstGeom>
          <a:noFill/>
          <a:ln w="19050">
            <a:solidFill>
              <a:srgbClr val="8A94A6"/>
            </a:solidFill>
            <a:prstDash val="solid"/>
            <a:tailEnd type="triangle"/>
          </a:ln>
        </p:spPr>
        <p:txBody>
          <a:bodyPr/>
          <a:lstStyle/>
          <a:p>
            <a:endParaRPr lang="he-IL"/>
          </a:p>
        </p:txBody>
      </p:sp>
      <p:sp>
        <p:nvSpPr>
          <p:cNvPr id="6" name="main"/>
          <p:cNvSpPr/>
          <p:nvPr/>
        </p:nvSpPr>
        <p:spPr>
          <a:xfrm>
            <a:off x="2926080" y="1417320"/>
            <a:ext cx="1554480" cy="685800"/>
          </a:xfrm>
          <a:prstGeom prst="roundRect">
            <a:avLst>
              <a:gd name="adj" fmla="val 13333"/>
            </a:avLst>
          </a:prstGeom>
          <a:solidFill>
            <a:srgbClr val="F2F4F7"/>
          </a:solidFill>
          <a:ln w="12700">
            <a:solidFill>
              <a:srgbClr val="F2F4F7"/>
            </a:solidFill>
            <a:prstDash val="solid"/>
          </a:ln>
        </p:spPr>
        <p:txBody>
          <a:bodyPr/>
          <a:lstStyle/>
          <a:p>
            <a:endParaRPr lang="he-IL"/>
          </a:p>
        </p:txBody>
      </p:sp>
      <p:sp>
        <p:nvSpPr>
          <p:cNvPr id="7" name="Text 5"/>
          <p:cNvSpPr txBox="1"/>
          <p:nvPr/>
        </p:nvSpPr>
        <p:spPr>
          <a:xfrm>
            <a:off x="2926080" y="1417320"/>
            <a:ext cx="1554480" cy="685800"/>
          </a:xfrm>
          <a:prstGeom prst="rect">
            <a:avLst/>
          </a:prstGeom>
          <a:noFill/>
          <a:ln/>
        </p:spPr>
        <p:txBody>
          <a:bodyPr wrap="square" lIns="50800" tIns="50800" rIns="50800" bIns="50800" rtlCol="0" anchor="ctr"/>
          <a:lstStyle/>
          <a:p>
            <a:pPr marL="0" indent="0" algn="ctr">
              <a:buNone/>
            </a:pPr>
            <a:r>
              <a:rPr lang="en-US" sz="1400" dirty="0">
                <a:solidFill>
                  <a:srgbClr val="1F2A44"/>
                </a:solidFill>
                <a:latin typeface="Consolas" pitchFamily="34" charset="0"/>
                <a:ea typeface="Consolas" pitchFamily="34" charset="-122"/>
                <a:cs typeface="Consolas" pitchFamily="34" charset="-120"/>
              </a:rPr>
              <a:t>main.py</a:t>
            </a:r>
            <a:endParaRPr lang="en-US" sz="1400" dirty="0"/>
          </a:p>
        </p:txBody>
      </p:sp>
      <p:sp>
        <p:nvSpPr>
          <p:cNvPr id="8" name="Shape 6"/>
          <p:cNvSpPr/>
          <p:nvPr/>
        </p:nvSpPr>
        <p:spPr>
          <a:xfrm>
            <a:off x="4526280" y="1760220"/>
            <a:ext cx="457200" cy="0"/>
          </a:xfrm>
          <a:prstGeom prst="line">
            <a:avLst/>
          </a:prstGeom>
          <a:noFill/>
          <a:ln w="19050">
            <a:solidFill>
              <a:srgbClr val="8A94A6"/>
            </a:solidFill>
            <a:prstDash val="solid"/>
            <a:tailEnd type="triangle"/>
          </a:ln>
        </p:spPr>
        <p:txBody>
          <a:bodyPr/>
          <a:lstStyle/>
          <a:p>
            <a:endParaRPr lang="he-IL"/>
          </a:p>
        </p:txBody>
      </p:sp>
      <p:sp>
        <p:nvSpPr>
          <p:cNvPr id="9" name="factory"/>
          <p:cNvSpPr/>
          <p:nvPr/>
        </p:nvSpPr>
        <p:spPr>
          <a:xfrm>
            <a:off x="5029200" y="1417320"/>
            <a:ext cx="2103120" cy="685800"/>
          </a:xfrm>
          <a:prstGeom prst="roundRect">
            <a:avLst>
              <a:gd name="adj" fmla="val 13333"/>
            </a:avLst>
          </a:prstGeom>
          <a:solidFill>
            <a:srgbClr val="1F2A44"/>
          </a:solidFill>
          <a:ln w="12700">
            <a:solidFill>
              <a:srgbClr val="1F2A44"/>
            </a:solidFill>
            <a:prstDash val="solid"/>
          </a:ln>
        </p:spPr>
        <p:txBody>
          <a:bodyPr/>
          <a:lstStyle/>
          <a:p>
            <a:endParaRPr lang="he-IL"/>
          </a:p>
        </p:txBody>
      </p:sp>
      <p:sp>
        <p:nvSpPr>
          <p:cNvPr id="10" name="Text 8"/>
          <p:cNvSpPr txBox="1"/>
          <p:nvPr/>
        </p:nvSpPr>
        <p:spPr>
          <a:xfrm>
            <a:off x="5029200" y="1417320"/>
            <a:ext cx="2103120" cy="685800"/>
          </a:xfrm>
          <a:prstGeom prst="rect">
            <a:avLst/>
          </a:prstGeom>
          <a:noFill/>
          <a:ln/>
        </p:spPr>
        <p:txBody>
          <a:bodyPr wrap="square" lIns="50800" tIns="50800" rIns="50800" bIns="50800" rtlCol="0" anchor="ctr"/>
          <a:lstStyle/>
          <a:p>
            <a:pPr marL="0" indent="0" algn="ctr">
              <a:buNone/>
            </a:pPr>
            <a:r>
              <a:rPr lang="en-US" sz="1400" dirty="0">
                <a:solidFill>
                  <a:srgbClr val="FFFFFF"/>
                </a:solidFill>
                <a:latin typeface="Consolas" pitchFamily="34" charset="0"/>
                <a:ea typeface="Consolas" pitchFamily="34" charset="-122"/>
                <a:cs typeface="Consolas" pitchFamily="34" charset="-120"/>
              </a:rPr>
              <a:t>retrieval.factory</a:t>
            </a:r>
            <a:endParaRPr lang="en-US" sz="1400" dirty="0"/>
          </a:p>
        </p:txBody>
      </p:sp>
      <p:sp>
        <p:nvSpPr>
          <p:cNvPr id="11" name="Text 9"/>
          <p:cNvSpPr txBox="1"/>
          <p:nvPr/>
        </p:nvSpPr>
        <p:spPr>
          <a:xfrm>
            <a:off x="1737360" y="2491740"/>
            <a:ext cx="4206240" cy="320040"/>
          </a:xfrm>
          <a:prstGeom prst="rect">
            <a:avLst/>
          </a:prstGeom>
          <a:noFill/>
          <a:ln/>
        </p:spPr>
        <p:txBody>
          <a:bodyPr wrap="square" lIns="0" tIns="0" rIns="0" bIns="0" rtlCol="0" anchor="ctr"/>
          <a:lstStyle/>
          <a:p>
            <a:pPr marL="0" indent="0" algn="ctr">
              <a:buNone/>
            </a:pPr>
            <a:r>
              <a:rPr lang="en-US" sz="1300" b="1" dirty="0">
                <a:solidFill>
                  <a:srgbClr val="1F2A44"/>
                </a:solidFill>
                <a:latin typeface="Consolas" pitchFamily="34" charset="0"/>
                <a:ea typeface="Consolas" pitchFamily="34" charset="-122"/>
                <a:cs typeface="Consolas" pitchFamily="34" charset="-120"/>
              </a:rPr>
              <a:t>IS_TITLE_AWARE_RETRIEVAL</a:t>
            </a:r>
            <a:endParaRPr lang="en-US" sz="1300" dirty="0"/>
          </a:p>
        </p:txBody>
      </p:sp>
      <p:sp>
        <p:nvSpPr>
          <p:cNvPr id="12" name="Shape 10"/>
          <p:cNvSpPr/>
          <p:nvPr/>
        </p:nvSpPr>
        <p:spPr>
          <a:xfrm flipH="1">
            <a:off x="2744776" y="2811780"/>
            <a:ext cx="958543" cy="400050"/>
          </a:xfrm>
          <a:prstGeom prst="line">
            <a:avLst/>
          </a:prstGeom>
          <a:noFill/>
          <a:ln w="19050">
            <a:solidFill>
              <a:srgbClr val="8A94A6"/>
            </a:solidFill>
            <a:prstDash val="solid"/>
            <a:tailEnd type="triangle"/>
          </a:ln>
        </p:spPr>
        <p:txBody>
          <a:bodyPr/>
          <a:lstStyle/>
          <a:p>
            <a:endParaRPr lang="he-IL"/>
          </a:p>
        </p:txBody>
      </p:sp>
      <p:sp>
        <p:nvSpPr>
          <p:cNvPr id="13" name="Shape 11"/>
          <p:cNvSpPr/>
          <p:nvPr/>
        </p:nvSpPr>
        <p:spPr>
          <a:xfrm>
            <a:off x="3703319" y="2811780"/>
            <a:ext cx="958542" cy="400050"/>
          </a:xfrm>
          <a:prstGeom prst="line">
            <a:avLst/>
          </a:prstGeom>
          <a:noFill/>
          <a:ln w="19050">
            <a:solidFill>
              <a:srgbClr val="8A94A6"/>
            </a:solidFill>
            <a:prstDash val="solid"/>
            <a:tailEnd type="triangle"/>
          </a:ln>
        </p:spPr>
        <p:txBody>
          <a:bodyPr/>
          <a:lstStyle/>
          <a:p>
            <a:endParaRPr lang="he-IL"/>
          </a:p>
        </p:txBody>
      </p:sp>
      <p:sp>
        <p:nvSpPr>
          <p:cNvPr id="14" name="engine"/>
          <p:cNvSpPr/>
          <p:nvPr/>
        </p:nvSpPr>
        <p:spPr>
          <a:xfrm>
            <a:off x="548640" y="3246120"/>
            <a:ext cx="3246120" cy="1188720"/>
          </a:xfrm>
          <a:prstGeom prst="roundRect">
            <a:avLst>
              <a:gd name="adj" fmla="val 7692"/>
            </a:avLst>
          </a:prstGeom>
          <a:solidFill>
            <a:srgbClr val="F2F4F7"/>
          </a:solidFill>
          <a:ln w="12700">
            <a:solidFill>
              <a:srgbClr val="F2F4F7"/>
            </a:solidFill>
            <a:prstDash val="solid"/>
          </a:ln>
        </p:spPr>
        <p:txBody>
          <a:bodyPr/>
          <a:lstStyle/>
          <a:p>
            <a:endParaRPr lang="he-IL"/>
          </a:p>
        </p:txBody>
      </p:sp>
      <p:sp>
        <p:nvSpPr>
          <p:cNvPr id="15" name="Text 13"/>
          <p:cNvSpPr txBox="1"/>
          <p:nvPr/>
        </p:nvSpPr>
        <p:spPr>
          <a:xfrm>
            <a:off x="548640" y="3246120"/>
            <a:ext cx="3246120" cy="1188720"/>
          </a:xfrm>
          <a:prstGeom prst="rect">
            <a:avLst/>
          </a:prstGeom>
          <a:noFill/>
          <a:ln/>
        </p:spPr>
        <p:txBody>
          <a:bodyPr wrap="square" lIns="50800" tIns="50800" rIns="50800" bIns="50800" rtlCol="0" anchor="ctr"/>
          <a:lstStyle/>
          <a:p>
            <a:pPr marL="0" indent="0" algn="ctr">
              <a:buNone/>
            </a:pPr>
            <a:r>
              <a:rPr lang="en-US" sz="1400" b="1" dirty="0">
                <a:solidFill>
                  <a:srgbClr val="5B6578"/>
                </a:solidFill>
              </a:rPr>
              <a:t>unset</a:t>
            </a:r>
            <a:endParaRPr lang="en-US" sz="1400" dirty="0"/>
          </a:p>
          <a:p>
            <a:pPr marL="0" indent="0" algn="ctr">
              <a:buNone/>
            </a:pPr>
            <a:r>
              <a:rPr lang="en-US" sz="1400" b="1" dirty="0">
                <a:solidFill>
                  <a:srgbClr val="1F2A44"/>
                </a:solidFill>
                <a:latin typeface="Consolas" pitchFamily="34" charset="0"/>
                <a:ea typeface="Consolas" pitchFamily="34" charset="-122"/>
                <a:cs typeface="Consolas" pitchFamily="34" charset="-120"/>
              </a:rPr>
              <a:t>Engine</a:t>
            </a:r>
            <a:endParaRPr lang="en-US" sz="1400" dirty="0"/>
          </a:p>
          <a:p>
            <a:pPr marL="0" indent="0" algn="ctr">
              <a:buNone/>
            </a:pPr>
            <a:r>
              <a:rPr lang="en-US" sz="1200" dirty="0">
                <a:solidFill>
                  <a:srgbClr val="5B6578"/>
                </a:solidFill>
              </a:rPr>
              <a:t>webiks-hebrew-ragbot 1.0.1, unchanged</a:t>
            </a:r>
            <a:endParaRPr lang="en-US" sz="1400" dirty="0"/>
          </a:p>
        </p:txBody>
      </p:sp>
      <p:sp>
        <p:nvSpPr>
          <p:cNvPr id="16" name="title-aware engine"/>
          <p:cNvSpPr/>
          <p:nvPr/>
        </p:nvSpPr>
        <p:spPr>
          <a:xfrm>
            <a:off x="3977640" y="3246120"/>
            <a:ext cx="3154680" cy="1188720"/>
          </a:xfrm>
          <a:prstGeom prst="roundRect">
            <a:avLst>
              <a:gd name="adj" fmla="val 7692"/>
            </a:avLst>
          </a:prstGeom>
          <a:solidFill>
            <a:srgbClr val="1F2A44"/>
          </a:solidFill>
          <a:ln w="12700">
            <a:solidFill>
              <a:srgbClr val="1F2A44"/>
            </a:solidFill>
            <a:prstDash val="solid"/>
          </a:ln>
        </p:spPr>
        <p:txBody>
          <a:bodyPr/>
          <a:lstStyle/>
          <a:p>
            <a:endParaRPr lang="he-IL"/>
          </a:p>
        </p:txBody>
      </p:sp>
      <p:sp>
        <p:nvSpPr>
          <p:cNvPr id="17" name="Text 15"/>
          <p:cNvSpPr txBox="1"/>
          <p:nvPr/>
        </p:nvSpPr>
        <p:spPr>
          <a:xfrm>
            <a:off x="3977640" y="3246120"/>
            <a:ext cx="3154680" cy="1188720"/>
          </a:xfrm>
          <a:prstGeom prst="rect">
            <a:avLst/>
          </a:prstGeom>
          <a:noFill/>
          <a:ln/>
        </p:spPr>
        <p:txBody>
          <a:bodyPr wrap="square" lIns="50800" tIns="50800" rIns="50800" bIns="50800" rtlCol="0" anchor="ctr"/>
          <a:lstStyle/>
          <a:p>
            <a:pPr marL="0" indent="0" algn="ctr">
              <a:buNone/>
            </a:pPr>
            <a:r>
              <a:rPr lang="en-US" sz="1400" b="1" dirty="0">
                <a:solidFill>
                  <a:srgbClr val="E8A33D"/>
                </a:solidFill>
              </a:rPr>
              <a:t>true</a:t>
            </a:r>
            <a:endParaRPr lang="en-US" sz="1400" dirty="0"/>
          </a:p>
          <a:p>
            <a:pPr marL="0" indent="0" algn="ctr">
              <a:buNone/>
            </a:pPr>
            <a:r>
              <a:rPr lang="en-US" sz="1400" b="1" dirty="0">
                <a:solidFill>
                  <a:srgbClr val="FFFFFF"/>
                </a:solidFill>
                <a:latin typeface="Consolas" pitchFamily="34" charset="0"/>
                <a:ea typeface="Consolas" pitchFamily="34" charset="-122"/>
                <a:cs typeface="Consolas" pitchFamily="34" charset="-120"/>
              </a:rPr>
              <a:t>TitleAwareEngine(Engine)</a:t>
            </a:r>
            <a:endParaRPr lang="en-US" sz="1400" dirty="0"/>
          </a:p>
          <a:p>
            <a:pPr marL="0" indent="0" algn="ctr">
              <a:buNone/>
            </a:pPr>
            <a:r>
              <a:rPr lang="en-US" sz="1200" dirty="0">
                <a:solidFill>
                  <a:srgbClr val="C9D1DE"/>
                </a:solidFill>
              </a:rPr>
              <a:t>re-scores pages; weight 0.85 in code</a:t>
            </a:r>
            <a:endParaRPr lang="en-US" sz="1400" dirty="0"/>
          </a:p>
        </p:txBody>
      </p:sp>
      <p:sp>
        <p:nvSpPr>
          <p:cNvPr id="18" name="Text 16"/>
          <p:cNvSpPr txBox="1"/>
          <p:nvPr/>
        </p:nvSpPr>
        <p:spPr>
          <a:xfrm>
            <a:off x="548640" y="4617720"/>
            <a:ext cx="6583680" cy="685800"/>
          </a:xfrm>
          <a:prstGeom prst="rect">
            <a:avLst/>
          </a:prstGeom>
          <a:noFill/>
          <a:ln/>
        </p:spPr>
        <p:txBody>
          <a:bodyPr wrap="square" lIns="0" tIns="0" rIns="0" bIns="0" rtlCol="0" anchor="ctr"/>
          <a:lstStyle/>
          <a:p>
            <a:pPr marL="0" indent="0">
              <a:buNone/>
            </a:pPr>
            <a:r>
              <a:rPr lang="en-US" sz="1300" dirty="0">
                <a:solidFill>
                  <a:srgbClr val="5B6578"/>
                </a:solidFill>
              </a:rPr>
              <a:t>Indexing through the API with the flag on adds a title vector to every paragraph; pages without one are ranked without the title term.</a:t>
            </a:r>
            <a:endParaRPr lang="en-US" sz="1300" dirty="0"/>
          </a:p>
        </p:txBody>
      </p:sp>
      <p:sp>
        <p:nvSpPr>
          <p:cNvPr id="19" name="cost 1"/>
          <p:cNvSpPr txBox="1"/>
          <p:nvPr/>
        </p:nvSpPr>
        <p:spPr>
          <a:xfrm>
            <a:off x="7680960" y="1371600"/>
            <a:ext cx="914400" cy="731520"/>
          </a:xfrm>
          <a:prstGeom prst="rect">
            <a:avLst/>
          </a:prstGeom>
          <a:noFill/>
          <a:ln/>
        </p:spPr>
        <p:txBody>
          <a:bodyPr wrap="square" lIns="0" tIns="0" rIns="0" bIns="0" rtlCol="0" anchor="ctr"/>
          <a:lstStyle/>
          <a:p>
            <a:pPr marL="0" indent="0" algn="r">
              <a:buNone/>
            </a:pPr>
            <a:r>
              <a:rPr lang="en-US" sz="3600" b="1" dirty="0">
                <a:solidFill>
                  <a:srgbClr val="E8A33D"/>
                </a:solidFill>
                <a:latin typeface="Cambria" pitchFamily="34" charset="0"/>
                <a:ea typeface="Cambria" pitchFamily="34" charset="-122"/>
                <a:cs typeface="Cambria" pitchFamily="34" charset="-120"/>
              </a:rPr>
              <a:t>1</a:t>
            </a:r>
            <a:endParaRPr lang="en-US" sz="3600" dirty="0"/>
          </a:p>
        </p:txBody>
      </p:sp>
      <p:sp>
        <p:nvSpPr>
          <p:cNvPr id="20" name="Text 18"/>
          <p:cNvSpPr txBox="1"/>
          <p:nvPr/>
        </p:nvSpPr>
        <p:spPr>
          <a:xfrm>
            <a:off x="8778240" y="1371600"/>
            <a:ext cx="2926080" cy="731520"/>
          </a:xfrm>
          <a:prstGeom prst="rect">
            <a:avLst/>
          </a:prstGeom>
          <a:noFill/>
          <a:ln/>
        </p:spPr>
        <p:txBody>
          <a:bodyPr wrap="square" lIns="0" tIns="0" rIns="0" bIns="0" rtlCol="0" anchor="ctr"/>
          <a:lstStyle/>
          <a:p>
            <a:pPr marL="0" indent="0">
              <a:buNone/>
            </a:pPr>
            <a:r>
              <a:rPr lang="en-US" sz="1500" dirty="0">
                <a:solidFill>
                  <a:srgbClr val="1F2A44"/>
                </a:solidFill>
              </a:rPr>
              <a:t>environment variable selects the mode</a:t>
            </a:r>
            <a:endParaRPr lang="en-US" sz="1500" dirty="0"/>
          </a:p>
        </p:txBody>
      </p:sp>
      <p:sp>
        <p:nvSpPr>
          <p:cNvPr id="21" name="cost 2"/>
          <p:cNvSpPr txBox="1"/>
          <p:nvPr/>
        </p:nvSpPr>
        <p:spPr>
          <a:xfrm>
            <a:off x="7680960" y="2240280"/>
            <a:ext cx="914400" cy="731520"/>
          </a:xfrm>
          <a:prstGeom prst="rect">
            <a:avLst/>
          </a:prstGeom>
          <a:noFill/>
          <a:ln/>
        </p:spPr>
        <p:txBody>
          <a:bodyPr wrap="square" lIns="0" tIns="0" rIns="0" bIns="0" rtlCol="0" anchor="ctr"/>
          <a:lstStyle/>
          <a:p>
            <a:pPr marL="0" indent="0" algn="r">
              <a:buNone/>
            </a:pPr>
            <a:r>
              <a:rPr lang="en-US" sz="3600" b="1" dirty="0">
                <a:solidFill>
                  <a:srgbClr val="E8A33D"/>
                </a:solidFill>
                <a:latin typeface="Cambria" pitchFamily="34" charset="0"/>
                <a:ea typeface="Cambria" pitchFamily="34" charset="-122"/>
                <a:cs typeface="Cambria" pitchFamily="34" charset="-120"/>
              </a:rPr>
              <a:t>0</a:t>
            </a:r>
            <a:endParaRPr lang="en-US" sz="3600" dirty="0"/>
          </a:p>
        </p:txBody>
      </p:sp>
      <p:sp>
        <p:nvSpPr>
          <p:cNvPr id="22" name="Text 20"/>
          <p:cNvSpPr txBox="1"/>
          <p:nvPr/>
        </p:nvSpPr>
        <p:spPr>
          <a:xfrm>
            <a:off x="8778240" y="2240280"/>
            <a:ext cx="2926080" cy="731520"/>
          </a:xfrm>
          <a:prstGeom prst="rect">
            <a:avLst/>
          </a:prstGeom>
          <a:noFill/>
          <a:ln/>
        </p:spPr>
        <p:txBody>
          <a:bodyPr wrap="square" lIns="0" tIns="0" rIns="0" bIns="0" rtlCol="0" anchor="ctr"/>
          <a:lstStyle/>
          <a:p>
            <a:pPr marL="0" indent="0">
              <a:buNone/>
            </a:pPr>
            <a:r>
              <a:rPr lang="en-US" sz="1500" dirty="0">
                <a:solidFill>
                  <a:srgbClr val="1F2A44"/>
                </a:solidFill>
              </a:rPr>
              <a:t>new runtime libraries</a:t>
            </a:r>
            <a:endParaRPr lang="en-US" sz="1500" dirty="0"/>
          </a:p>
        </p:txBody>
      </p:sp>
      <p:sp>
        <p:nvSpPr>
          <p:cNvPr id="23" name="cost 3"/>
          <p:cNvSpPr txBox="1"/>
          <p:nvPr/>
        </p:nvSpPr>
        <p:spPr>
          <a:xfrm>
            <a:off x="7680960" y="3108960"/>
            <a:ext cx="914400" cy="731520"/>
          </a:xfrm>
          <a:prstGeom prst="rect">
            <a:avLst/>
          </a:prstGeom>
          <a:noFill/>
          <a:ln/>
        </p:spPr>
        <p:txBody>
          <a:bodyPr wrap="square" lIns="0" tIns="0" rIns="0" bIns="0" rtlCol="0" anchor="ctr"/>
          <a:lstStyle/>
          <a:p>
            <a:pPr marL="0" indent="0" algn="r">
              <a:buNone/>
            </a:pPr>
            <a:r>
              <a:rPr lang="en-US" sz="3600" b="1" dirty="0">
                <a:solidFill>
                  <a:srgbClr val="E8A33D"/>
                </a:solidFill>
                <a:latin typeface="Cambria" pitchFamily="34" charset="0"/>
                <a:ea typeface="Cambria" pitchFamily="34" charset="-122"/>
                <a:cs typeface="Cambria" pitchFamily="34" charset="-120"/>
              </a:rPr>
              <a:t>0</a:t>
            </a:r>
            <a:endParaRPr lang="en-US" sz="3600" dirty="0"/>
          </a:p>
        </p:txBody>
      </p:sp>
      <p:sp>
        <p:nvSpPr>
          <p:cNvPr id="24" name="Text 22"/>
          <p:cNvSpPr txBox="1"/>
          <p:nvPr/>
        </p:nvSpPr>
        <p:spPr>
          <a:xfrm>
            <a:off x="8778240" y="3108960"/>
            <a:ext cx="2926080" cy="731520"/>
          </a:xfrm>
          <a:prstGeom prst="rect">
            <a:avLst/>
          </a:prstGeom>
          <a:noFill/>
          <a:ln/>
        </p:spPr>
        <p:txBody>
          <a:bodyPr wrap="square" lIns="0" tIns="0" rIns="0" bIns="0" rtlCol="0" anchor="ctr"/>
          <a:lstStyle/>
          <a:p>
            <a:pPr marL="0" indent="0">
              <a:buNone/>
            </a:pPr>
            <a:r>
              <a:rPr lang="en-US" sz="1500" dirty="0">
                <a:solidFill>
                  <a:srgbClr val="1F2A44"/>
                </a:solidFill>
              </a:rPr>
              <a:t>extra models at query time</a:t>
            </a:r>
            <a:endParaRPr lang="en-US" sz="1500" dirty="0"/>
          </a:p>
        </p:txBody>
      </p:sp>
      <p:sp>
        <p:nvSpPr>
          <p:cNvPr id="25" name="cost 4"/>
          <p:cNvSpPr txBox="1"/>
          <p:nvPr/>
        </p:nvSpPr>
        <p:spPr>
          <a:xfrm>
            <a:off x="7680960" y="3977640"/>
            <a:ext cx="914400" cy="731520"/>
          </a:xfrm>
          <a:prstGeom prst="rect">
            <a:avLst/>
          </a:prstGeom>
          <a:noFill/>
          <a:ln/>
        </p:spPr>
        <p:txBody>
          <a:bodyPr wrap="square" lIns="0" tIns="0" rIns="0" bIns="0" rtlCol="0" anchor="ctr"/>
          <a:lstStyle/>
          <a:p>
            <a:pPr marL="0" indent="0" algn="r">
              <a:buNone/>
            </a:pPr>
            <a:r>
              <a:rPr lang="en-US" sz="3600" b="1" dirty="0">
                <a:solidFill>
                  <a:srgbClr val="E8A33D"/>
                </a:solidFill>
                <a:latin typeface="Cambria" pitchFamily="34" charset="0"/>
                <a:ea typeface="Cambria" pitchFamily="34" charset="-122"/>
                <a:cs typeface="Cambria" pitchFamily="34" charset="-120"/>
              </a:rPr>
              <a:t>+1</a:t>
            </a:r>
            <a:endParaRPr lang="en-US" sz="3600" dirty="0"/>
          </a:p>
        </p:txBody>
      </p:sp>
      <p:sp>
        <p:nvSpPr>
          <p:cNvPr id="26" name="Text 24"/>
          <p:cNvSpPr txBox="1"/>
          <p:nvPr/>
        </p:nvSpPr>
        <p:spPr>
          <a:xfrm>
            <a:off x="8778240" y="3977640"/>
            <a:ext cx="2926080" cy="731520"/>
          </a:xfrm>
          <a:prstGeom prst="rect">
            <a:avLst/>
          </a:prstGeom>
          <a:noFill/>
          <a:ln/>
        </p:spPr>
        <p:txBody>
          <a:bodyPr wrap="square" lIns="0" tIns="0" rIns="0" bIns="0" rtlCol="0" anchor="ctr"/>
          <a:lstStyle/>
          <a:p>
            <a:pPr marL="0" indent="0">
              <a:buNone/>
            </a:pPr>
            <a:r>
              <a:rPr lang="en-US" sz="1500" dirty="0">
                <a:solidFill>
                  <a:srgbClr val="1F2A44"/>
                </a:solidFill>
              </a:rPr>
              <a:t>title vector (1,024-d) per paragraph</a:t>
            </a:r>
            <a:endParaRPr lang="en-US" sz="1500" dirty="0"/>
          </a:p>
        </p:txBody>
      </p:sp>
      <p:sp>
        <p:nvSpPr>
          <p:cNvPr id="27" name="Text 25"/>
          <p:cNvSpPr txBox="1"/>
          <p:nvPr/>
        </p:nvSpPr>
        <p:spPr>
          <a:xfrm>
            <a:off x="7680960" y="4892040"/>
            <a:ext cx="4023360" cy="685800"/>
          </a:xfrm>
          <a:prstGeom prst="rect">
            <a:avLst/>
          </a:prstGeom>
          <a:noFill/>
          <a:ln/>
        </p:spPr>
        <p:txBody>
          <a:bodyPr wrap="square" lIns="0" tIns="0" rIns="0" bIns="0" rtlCol="0" anchor="ctr"/>
          <a:lstStyle/>
          <a:p>
            <a:pPr marL="0" indent="0">
              <a:buNone/>
            </a:pPr>
            <a:r>
              <a:rPr lang="en-US" sz="1300" b="1" dirty="0">
                <a:solidFill>
                  <a:srgbClr val="1F2A44"/>
                </a:solidFill>
              </a:rPr>
              <a:t>Latency, median (CPU, 4 threads): </a:t>
            </a:r>
            <a:r>
              <a:rPr lang="en-US" sz="1300" dirty="0">
                <a:solidFill>
                  <a:srgbClr val="1F2A44"/>
                </a:solidFill>
              </a:rPr>
              <a:t>0.664 s baseline, 0.653 s title-aware; no difference is claimed.</a:t>
            </a:r>
            <a:endParaRPr lang="en-US" sz="1300" dirty="0"/>
          </a:p>
        </p:txBody>
      </p:sp>
      <p:sp>
        <p:nvSpPr>
          <p:cNvPr id="28" name="verification"/>
          <p:cNvSpPr/>
          <p:nvPr/>
        </p:nvSpPr>
        <p:spPr>
          <a:xfrm>
            <a:off x="548640" y="5669280"/>
            <a:ext cx="11064240" cy="594360"/>
          </a:xfrm>
          <a:prstGeom prst="roundRect">
            <a:avLst>
              <a:gd name="adj" fmla="val 15385"/>
            </a:avLst>
          </a:prstGeom>
          <a:solidFill>
            <a:srgbClr val="F2F4F7"/>
          </a:solidFill>
          <a:ln w="12700">
            <a:solidFill>
              <a:srgbClr val="F2F4F7"/>
            </a:solidFill>
            <a:prstDash val="solid"/>
          </a:ln>
        </p:spPr>
        <p:txBody>
          <a:bodyPr/>
          <a:lstStyle/>
          <a:p>
            <a:endParaRPr lang="he-IL"/>
          </a:p>
        </p:txBody>
      </p:sp>
      <p:sp>
        <p:nvSpPr>
          <p:cNvPr id="29" name="Text 27"/>
          <p:cNvSpPr txBox="1"/>
          <p:nvPr/>
        </p:nvSpPr>
        <p:spPr>
          <a:xfrm>
            <a:off x="731520" y="5669280"/>
            <a:ext cx="10698480" cy="594360"/>
          </a:xfrm>
          <a:prstGeom prst="rect">
            <a:avLst/>
          </a:prstGeom>
          <a:noFill/>
          <a:ln/>
        </p:spPr>
        <p:txBody>
          <a:bodyPr wrap="square" lIns="0" tIns="0" rIns="0" bIns="0" rtlCol="0" anchor="ctr"/>
          <a:lstStyle/>
          <a:p>
            <a:pPr marL="0" indent="0">
              <a:buNone/>
            </a:pPr>
            <a:r>
              <a:rPr lang="en-US" sz="1300" b="1" dirty="0">
                <a:solidFill>
                  <a:srgbClr val="1F2A44"/>
                </a:solidFill>
              </a:rPr>
              <a:t>Verified: </a:t>
            </a:r>
            <a:r>
              <a:rPr lang="en-US" sz="1300" dirty="0">
                <a:solidFill>
                  <a:srgbClr val="1F2A44"/>
                </a:solidFill>
              </a:rPr>
              <a:t>176 tests pass (47 upstream) · smoke checks of every endpoint in both modes · on the full index, /search's top 3 equal the evaluation's rankings (5/5).</a:t>
            </a:r>
            <a:endParaRPr lang="en-US" sz="1300" dirty="0"/>
          </a:p>
        </p:txBody>
      </p:sp>
      <p:sp>
        <p:nvSpPr>
          <p:cNvPr id="30"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defRPr>
            </a:lvl1pPr>
          </a:lstStyle>
          <a:p>
            <a:pPr algn="r"/>
            <a:fld id="{F7021451-1387-4CA6-816F-3879F97B5CBC}" type="slidenum">
              <a:rPr lang="en-US" b="0"/>
              <a:t>3</a:t>
            </a:fld>
            <a:endParaRPr lang="en-US"/>
          </a:p>
        </p:txBody>
      </p:sp>
      <p:sp>
        <p:nvSpPr>
          <p:cNvPr id="36" name="Shape 10">
            <a:extLst>
              <a:ext uri="{FF2B5EF4-FFF2-40B4-BE49-F238E27FC236}">
                <a16:creationId xmlns:a16="http://schemas.microsoft.com/office/drawing/2014/main" id="{E7A47B99-5007-B6F3-E1A4-B5031EBDE769}"/>
              </a:ext>
            </a:extLst>
          </p:cNvPr>
          <p:cNvSpPr/>
          <p:nvPr/>
        </p:nvSpPr>
        <p:spPr>
          <a:xfrm flipH="1">
            <a:off x="4661861" y="2120265"/>
            <a:ext cx="958543" cy="400050"/>
          </a:xfrm>
          <a:prstGeom prst="line">
            <a:avLst/>
          </a:prstGeom>
          <a:noFill/>
          <a:ln w="19050">
            <a:solidFill>
              <a:srgbClr val="8A94A6"/>
            </a:solidFill>
            <a:prstDash val="solid"/>
            <a:tailEnd type="triangle"/>
          </a:ln>
        </p:spPr>
        <p:txBody>
          <a:bodyPr/>
          <a:lstStyle/>
          <a:p>
            <a:endParaRPr lang="he-IL"/>
          </a:p>
        </p:txBody>
      </p:sp>
    </p:spTree>
  </p:cSld>
  <p:clrMapOvr>
    <a:masterClrMapping/>
  </p:clrMapOvr>
</p:sld>
</file>

<file path=ppt/theme/theme1.xml><?xml version="1.0" encoding="utf-8"?>
<a:theme xmlns:a="http://schemas.openxmlformats.org/drawingml/2006/main" name="Title-aware retrieval">
  <a:themeElements>
    <a:clrScheme name="Title-aware retrieval">
      <a:dk1>
        <a:srgbClr val="1F2A44"/>
      </a:dk1>
      <a:lt1>
        <a:srgbClr val="FFFFFF"/>
      </a:lt1>
      <a:dk2>
        <a:srgbClr val="2E3A55"/>
      </a:dk2>
      <a:lt2>
        <a:srgbClr val="F2F4F7"/>
      </a:lt2>
      <a:accent1>
        <a:srgbClr val="E8A33D"/>
      </a:accent1>
      <a:accent2>
        <a:srgbClr val="8A94A6"/>
      </a:accent2>
      <a:accent3>
        <a:srgbClr val="2F7D6D"/>
      </a:accent3>
      <a:accent4>
        <a:srgbClr val="4F6D9A"/>
      </a:accent4>
      <a:accent5>
        <a:srgbClr val="C9773A"/>
      </a:accent5>
      <a:accent6>
        <a:srgbClr val="6B7A8F"/>
      </a:accent6>
      <a:hlink>
        <a:srgbClr val="2F6DB5"/>
      </a:hlink>
      <a:folHlink>
        <a:srgbClr val="7A5AA6"/>
      </a:folHlink>
    </a:clrScheme>
    <a:fontScheme name="Title-aware retriev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895</Words>
  <Application>Microsoft Office PowerPoint</Application>
  <PresentationFormat>מסך רחב</PresentationFormat>
  <Paragraphs>66</Paragraphs>
  <Slides>3</Slides>
  <Notes>3</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3</vt:i4>
      </vt:variant>
    </vt:vector>
  </HeadingPairs>
  <TitlesOfParts>
    <vt:vector size="8" baseType="lpstr">
      <vt:lpstr>Arial</vt:lpstr>
      <vt:lpstr>Calibri</vt:lpstr>
      <vt:lpstr>Cambria</vt:lpstr>
      <vt:lpstr>Consolas</vt:lpstr>
      <vt:lpstr>Title-aware retrieval</vt:lpstr>
      <vt:lpstr>Rank pages with their titles</vt:lpstr>
      <vt:lpstr>Results: 200 held-out test questions</vt:lpstr>
      <vt:lpstr>Integration and costs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Title-aware retrieval for the Kol-Zchut RAG Demo</dc:title>
  <dc:subject>PptxGenJS Presentation</dc:subject>
  <dc:creator>PptxGenJS</dc:creator>
  <cp:lastModifiedBy>Yair Ayalon</cp:lastModifiedBy>
  <cp:revision>3</cp:revision>
  <dcterms:created xsi:type="dcterms:W3CDTF">2026-10-07T07:54:07Z</dcterms:created>
  <dcterms:modified xsi:type="dcterms:W3CDTF">2026-10-07T10:17:21Z</dcterms:modified>
</cp:coreProperties>
</file>